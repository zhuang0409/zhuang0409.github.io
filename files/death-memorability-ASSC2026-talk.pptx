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549"/>
  </p:normalViewPr>
  <p:slideViewPr>
    <p:cSldViewPr snapToGrid="0" snapToObjects="1">
      <p:cViewPr varScale="1">
        <p:scale>
          <a:sx n="112" d="100"/>
          <a:sy n="112" d="100"/>
        </p:scale>
        <p:origin x="1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ResMem</c:v>
                </c:pt>
              </c:strCache>
            </c:strRef>
          </c:tx>
          <c:spPr>
            <a:solidFill>
              <a:srgbClr val="8B1E2E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1E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6C6-9E41-B44F-17314506B741}"/>
              </c:ext>
            </c:extLst>
          </c:dPt>
          <c:dPt>
            <c:idx val="1"/>
            <c:invertIfNegative val="0"/>
            <c:bubble3D val="0"/>
            <c:spPr>
              <a:solidFill>
                <a:srgbClr val="BFBF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6C6-9E41-B44F-17314506B741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Calibri"/>
                  </a:defRPr>
                </a:pPr>
                <a:endParaRPr lang="en-001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Death (488)</c:v>
                </c:pt>
                <c:pt idx="1">
                  <c:v>Non-death (3857)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0.75600000000000001</c:v>
                </c:pt>
                <c:pt idx="1">
                  <c:v>0.73099999999999998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6C6-9E41-B44F-17314506B7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8"/>
          <c:min val="0.7"/>
        </c:scaling>
        <c:delete val="0"/>
        <c:axPos val="l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Classification accuracy</c:v>
                </c:pt>
              </c:strCache>
            </c:strRef>
          </c:tx>
          <c:spPr>
            <a:ln w="38100" cap="flat">
              <a:solidFill>
                <a:srgbClr val="8B1E2E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8B1E2E"/>
              </a:solidFill>
              <a:ln w="9525" cap="flat">
                <a:solidFill>
                  <a:srgbClr val="8B1E2E"/>
                </a:solidFill>
                <a:prstDash val="solid"/>
                <a:round/>
              </a:ln>
              <a:effectLst/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Calibri"/>
                  </a:defRPr>
                </a:pPr>
                <a:endParaRPr lang="en-001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conv1</c:v>
                </c:pt>
                <c:pt idx="1">
                  <c:v>conv2</c:v>
                </c:pt>
                <c:pt idx="2">
                  <c:v>conv3</c:v>
                </c:pt>
                <c:pt idx="3">
                  <c:v>conv4</c:v>
                </c:pt>
                <c:pt idx="4">
                  <c:v>conv5</c:v>
                </c:pt>
                <c:pt idx="5">
                  <c:v>fc6</c:v>
                </c:pt>
                <c:pt idx="6">
                  <c:v>fc7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0.88200000000000001</c:v>
                </c:pt>
                <c:pt idx="1">
                  <c:v>0.89400000000000002</c:v>
                </c:pt>
                <c:pt idx="2">
                  <c:v>0.89200000000000002</c:v>
                </c:pt>
                <c:pt idx="3">
                  <c:v>0.89</c:v>
                </c:pt>
                <c:pt idx="4">
                  <c:v>0.89</c:v>
                </c:pt>
                <c:pt idx="5">
                  <c:v>0.90500000000000003</c:v>
                </c:pt>
                <c:pt idx="6">
                  <c:v>0.91500000000000004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93-E044-8DBB-B946D3A837E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3"/>
          <c:min val="0.86"/>
        </c:scaling>
        <c:delete val="0"/>
        <c:axPos val="l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Non-death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conv1</c:v>
                </c:pt>
                <c:pt idx="1">
                  <c:v>conv2</c:v>
                </c:pt>
                <c:pt idx="2">
                  <c:v>conv3</c:v>
                </c:pt>
                <c:pt idx="3">
                  <c:v>conv4</c:v>
                </c:pt>
                <c:pt idx="4">
                  <c:v>conv5</c:v>
                </c:pt>
                <c:pt idx="5">
                  <c:v>fc6</c:v>
                </c:pt>
                <c:pt idx="6">
                  <c:v>fc7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0.53</c:v>
                </c:pt>
                <c:pt idx="1">
                  <c:v>0.66</c:v>
                </c:pt>
                <c:pt idx="2">
                  <c:v>0.71</c:v>
                </c:pt>
                <c:pt idx="3">
                  <c:v>0.74</c:v>
                </c:pt>
                <c:pt idx="4">
                  <c:v>0.77</c:v>
                </c:pt>
                <c:pt idx="5">
                  <c:v>0.79</c:v>
                </c:pt>
                <c:pt idx="6">
                  <c:v>0.82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D7-6042-B15E-79F58AFFA8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Death</c:v>
                </c:pt>
              </c:strCache>
            </c:strRef>
          </c:tx>
          <c:spPr>
            <a:solidFill>
              <a:srgbClr val="8B1E2E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conv1</c:v>
                </c:pt>
                <c:pt idx="1">
                  <c:v>conv2</c:v>
                </c:pt>
                <c:pt idx="2">
                  <c:v>conv3</c:v>
                </c:pt>
                <c:pt idx="3">
                  <c:v>conv4</c:v>
                </c:pt>
                <c:pt idx="4">
                  <c:v>conv5</c:v>
                </c:pt>
                <c:pt idx="5">
                  <c:v>fc6</c:v>
                </c:pt>
                <c:pt idx="6">
                  <c:v>fc7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0.31</c:v>
                </c:pt>
                <c:pt idx="1">
                  <c:v>0.41</c:v>
                </c:pt>
                <c:pt idx="2">
                  <c:v>0.41</c:v>
                </c:pt>
                <c:pt idx="3">
                  <c:v>0.57999999999999996</c:v>
                </c:pt>
                <c:pt idx="4">
                  <c:v>0.55000000000000004</c:v>
                </c:pt>
                <c:pt idx="5">
                  <c:v>0.63</c:v>
                </c:pt>
                <c:pt idx="6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D7-6042-B15E-79F58AFFA8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6B6B"/>
                    </a:solidFill>
                    <a:latin typeface="Calibri"/>
                  </a:defRPr>
                </a:pPr>
                <a:r>
                  <a:rPr lang="en-US" sz="1100" b="0" i="0" u="none" strike="noStrike">
                    <a:solidFill>
                      <a:srgbClr val="6B6B6B"/>
                    </a:solidFill>
                    <a:latin typeface="Calibri"/>
                  </a:rPr>
                  <a:t>Pearson r (CV prediction)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A1A1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1404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001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1879, Claude Monet sat beside his wife Camille as she was dying. She was thirty-two. And in the hours around her death, he did something that, even by his own account, troubled him. He picked up a brush, and he painted her.</a:t>
            </a:r>
          </a:p>
          <a:p>
            <a:r>
              <a:rPr lang="en-001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painting.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001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Years later, Monet described that moment to a friend. He said he caught himself studying the colours of her face — the blues, the yellows, the greys — as if she were a landscape. He was horrified. And he kept painting.</a:t>
            </a:r>
          </a:p>
          <a:p>
            <a:r>
              <a:rPr lang="en-001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want to ask a very simple question about this image.</a:t>
            </a:r>
          </a:p>
          <a:p>
            <a:r>
              <a:rPr lang="en-001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do we remember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3.jp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2.jpg"/><Relationship Id="rId4" Type="http://schemas.openxmlformats.org/officeDocument/2006/relationships/image" Target="../media/image4.jpg"/><Relationship Id="rId9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_assets/monet_camil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3741725" cy="5029200"/>
          </a:xfrm>
          <a:prstGeom prst="rect">
            <a:avLst/>
          </a:prstGeom>
          <a:effectLst>
            <a:outerShdw blurRad="177800" dist="508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3" name="Shape 0"/>
          <p:cNvSpPr/>
          <p:nvPr/>
        </p:nvSpPr>
        <p:spPr>
          <a:xfrm>
            <a:off x="5303520" y="2148840"/>
            <a:ext cx="45720" cy="457200"/>
          </a:xfrm>
          <a:prstGeom prst="rect">
            <a:avLst/>
          </a:prstGeom>
          <a:solidFill>
            <a:srgbClr val="8B1E2E"/>
          </a:solidFill>
          <a:ln w="12700">
            <a:solidFill>
              <a:srgbClr val="8B1E2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" name="Text 1"/>
          <p:cNvSpPr/>
          <p:nvPr/>
        </p:nvSpPr>
        <p:spPr>
          <a:xfrm>
            <a:off x="5486400" y="2103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ASSC 2026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0" y="260604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Death is not a visual kind.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0" y="333756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i="1" dirty="0">
                <a:solidFill>
                  <a:srgbClr val="8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 family.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0" y="44348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Mortality-related meaning enhances predicted memorability in paintings — through multiple visual-semantic routes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0" y="55778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Tonghe Zhuang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Steven Laureys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080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Monet, Camille Monet on Her Deathbed, 1879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_assets/monet_camil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57200"/>
            <a:ext cx="4422038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315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visually forgettable image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234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8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you will not forget.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2194560"/>
            <a:ext cx="6217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Monet, 1879. His wife Camille, thirty-two, dying.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picked up a brush.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he wrote: he caught himself studying the colours of her face — the blues, the yellows, the greys — as if she were a landscape. He was horrified. And he kept painting.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5486400"/>
            <a:ext cx="36576" cy="457200"/>
          </a:xfrm>
          <a:prstGeom prst="rect">
            <a:avLst/>
          </a:prstGeom>
          <a:solidFill>
            <a:srgbClr val="8B1E2E"/>
          </a:solidFill>
          <a:ln w="12700">
            <a:solidFill>
              <a:srgbClr val="8B1E2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" name="Text 4"/>
          <p:cNvSpPr/>
          <p:nvPr/>
        </p:nvSpPr>
        <p:spPr>
          <a:xfrm>
            <a:off x="777240" y="54864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object. Narrow palette. Blurred form. And yet — sticky.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vision-based memorability models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memorability 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8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 the part of memorability that is visible in image structure?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Memorability is a stable, stimulus-driven property.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 et al. 2014; Khosla et al. 2015; Bainbridge 2020.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ResMem predicts memory for artworks — online and in a real museum.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 &amp; Bainbridge 2023.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4023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don't know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43891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differ not only in how they look.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also differ in what they mean.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 century of emotional memory work says affective meaning matters.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LaBar &amp; Cabeza 2006; McGaugh 2015.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of these are "death paintings."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share almost no low-level visual features.</a:t>
            </a:r>
            <a:endParaRPr lang="en-US" sz="1500" dirty="0"/>
          </a:p>
        </p:txBody>
      </p:sp>
      <p:pic>
        <p:nvPicPr>
          <p:cNvPr id="5" name="Image 0" descr="/home/claude/deck_assets/sub_funer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89685"/>
            <a:ext cx="1676400" cy="2044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1663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stele, c. 325 BC</a:t>
            </a:r>
            <a:endParaRPr lang="en-US" sz="1000" dirty="0"/>
          </a:p>
        </p:txBody>
      </p:sp>
      <p:pic>
        <p:nvPicPr>
          <p:cNvPr id="7" name="Image 1" descr="/home/claude/deck_assets/sub_symboli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3640" y="2614023"/>
            <a:ext cx="1676400" cy="19957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453640" y="51663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Rethel, 1851</a:t>
            </a:r>
            <a:endParaRPr lang="en-US" sz="1000" dirty="0"/>
          </a:p>
        </p:txBody>
      </p:sp>
      <p:pic>
        <p:nvPicPr>
          <p:cNvPr id="9" name="Image 2" descr="/home/claude/deck_assets/sub_mythhis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2920" y="2414451"/>
            <a:ext cx="1676400" cy="23948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12920" y="51663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Napoleon's death mask</a:t>
            </a:r>
            <a:endParaRPr lang="en-US" sz="1000" dirty="0"/>
          </a:p>
        </p:txBody>
      </p:sp>
      <p:pic>
        <p:nvPicPr>
          <p:cNvPr id="11" name="Image 3" descr="/home/claude/deck_assets/div_propagand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6370" y="2103120"/>
            <a:ext cx="1388059" cy="30175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72200" y="51663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Soviet war poster</a:t>
            </a:r>
            <a:endParaRPr lang="en-US" sz="1000" dirty="0"/>
          </a:p>
        </p:txBody>
      </p:sp>
      <p:pic>
        <p:nvPicPr>
          <p:cNvPr id="13" name="Image 4" descr="/home/claude/deck_assets/sub_landscap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1480" y="2537265"/>
            <a:ext cx="1676400" cy="214923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031480" y="51663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Ansel Adams, Death Valley</a:t>
            </a:r>
            <a:endParaRPr lang="en-US" sz="1000" dirty="0"/>
          </a:p>
        </p:txBody>
      </p:sp>
      <p:pic>
        <p:nvPicPr>
          <p:cNvPr id="15" name="Image 5" descr="/home/claude/deck_assets/sub_hanno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0760" y="2537265"/>
            <a:ext cx="1676400" cy="214923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90760" y="516636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Baskin, Hanno's Death</a:t>
            </a:r>
            <a:endParaRPr lang="en-US" sz="1000" dirty="0"/>
          </a:p>
        </p:txBody>
      </p:sp>
      <p:sp>
        <p:nvSpPr>
          <p:cNvPr id="17" name="Shape 9"/>
          <p:cNvSpPr/>
          <p:nvPr/>
        </p:nvSpPr>
        <p:spPr>
          <a:xfrm>
            <a:off x="640080" y="5897880"/>
            <a:ext cx="36576" cy="457200"/>
          </a:xfrm>
          <a:prstGeom prst="rect">
            <a:avLst/>
          </a:prstGeom>
          <a:solidFill>
            <a:srgbClr val="8B1E2E"/>
          </a:solidFill>
          <a:ln w="12700">
            <a:solidFill>
              <a:srgbClr val="8B1E2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8" name="Text 10"/>
          <p:cNvSpPr/>
          <p:nvPr/>
        </p:nvSpPr>
        <p:spPr>
          <a:xfrm>
            <a:off x="77724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memorability is visual structure, they should not pattern together. If meaning matters, they should.</a:t>
            </a:r>
            <a:endParaRPr lang="en-US" sz="1400" dirty="0"/>
          </a:p>
        </p:txBody>
      </p:sp>
      <p:sp>
        <p:nvSpPr>
          <p:cNvPr id="19" name="Text 1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4,345 paintings. Three measurements.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Institute of Chicago   ·   488 mortality-related   ·   3,857 non-death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566160" cy="3383280"/>
          </a:xfrm>
          <a:prstGeom prst="rect">
            <a:avLst/>
          </a:prstGeom>
          <a:solidFill>
            <a:srgbClr val="F7F5F3"/>
          </a:solidFill>
          <a:ln w="9525">
            <a:solidFill>
              <a:srgbClr val="E5E1DC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73152" cy="3383280"/>
          </a:xfrm>
          <a:prstGeom prst="rect">
            <a:avLst/>
          </a:prstGeom>
          <a:solidFill>
            <a:srgbClr val="8B1E2E"/>
          </a:solidFill>
          <a:ln w="12700">
            <a:solidFill>
              <a:srgbClr val="8B1E2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8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Predicted memorability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ResMem — deep network trained on large-scale human memory data. Validated on artworks by Davis &amp; Bainbridge (2023).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120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per-image score  ∈  [0, 1]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2194560"/>
            <a:ext cx="3566160" cy="3383280"/>
          </a:xfrm>
          <a:prstGeom prst="rect">
            <a:avLst/>
          </a:prstGeom>
          <a:solidFill>
            <a:srgbClr val="F7F5F3"/>
          </a:solidFill>
          <a:ln w="9525">
            <a:solidFill>
              <a:srgbClr val="E5E1DC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2" name="Shape 10"/>
          <p:cNvSpPr/>
          <p:nvPr/>
        </p:nvSpPr>
        <p:spPr>
          <a:xfrm>
            <a:off x="4297680" y="2194560"/>
            <a:ext cx="73152" cy="3383280"/>
          </a:xfrm>
          <a:prstGeom prst="rect">
            <a:avLst/>
          </a:prstGeom>
          <a:solidFill>
            <a:srgbClr val="8B1E2E"/>
          </a:solidFill>
          <a:ln w="12700">
            <a:solidFill>
              <a:srgbClr val="8B1E2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3" name="Text 11"/>
          <p:cNvSpPr/>
          <p:nvPr/>
        </p:nvSpPr>
        <p:spPr>
          <a:xfrm>
            <a:off x="457200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8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457200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 visual features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3886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ImageNet-pretrained AlexNet, 7 layers (conv1 → fc7). PCA to 100 components per layer. Roughly V1-like → object/semantic.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5120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 spaces per image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2194560"/>
            <a:ext cx="3566160" cy="3383280"/>
          </a:xfrm>
          <a:prstGeom prst="rect">
            <a:avLst/>
          </a:prstGeom>
          <a:solidFill>
            <a:srgbClr val="F7F5F3"/>
          </a:solidFill>
          <a:ln w="9525">
            <a:solidFill>
              <a:srgbClr val="E5E1DC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8" name="Shape 16"/>
          <p:cNvSpPr/>
          <p:nvPr/>
        </p:nvSpPr>
        <p:spPr>
          <a:xfrm>
            <a:off x="8138160" y="2194560"/>
            <a:ext cx="73152" cy="3383280"/>
          </a:xfrm>
          <a:prstGeom prst="rect">
            <a:avLst/>
          </a:prstGeom>
          <a:solidFill>
            <a:srgbClr val="8B1E2E"/>
          </a:solidFill>
          <a:ln w="12700">
            <a:solidFill>
              <a:srgbClr val="8B1E2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9" name="Text 17"/>
          <p:cNvSpPr/>
          <p:nvPr/>
        </p:nvSpPr>
        <p:spPr>
          <a:xfrm>
            <a:off x="841248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8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841248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Affective content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2480" y="38862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zero-shot prompts, yielding image-level valence and arousal estimates.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5120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arousal  ∈  [−1, +1]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Death paintings are remembered better.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dirty="0">
                <a:solidFill>
                  <a:srgbClr val="8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= 0.22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t(4343) = 4.54   ·   p &lt; .001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Mortality-related (n = 488)    M = 0.756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Non-death (n = 3,857)             M = 0.731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858000" y="1737360"/>
          <a:ext cx="48463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overlap heavily — this is a shift, not a separate high-memorability class.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network tells them apart — strongest at the top.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737360"/>
          <a:ext cx="73152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832104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321040" y="224028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separates them above chance.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climbs from V1-like features (conv1) to semantic features (fc7).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 fc7 — the most semantic layer.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SVM, 5-fold CV on PCA-reduced AlexNet features. Majority-class baseline = 0.88.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point the obvious story is: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8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Death paintings have a visual signature.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network has learned it. That is why they are more memorable.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8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 ran the next analysis.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 ·  THE PIVOT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features. Same method. Within each group.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ResMem from AlexNet features — non-death vs. death paintings.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920240"/>
          <a:ext cx="7589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50392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03920" y="2606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0.82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50392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non-death, fc7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03920" y="3931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8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0.62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850392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death, fc7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5989320"/>
            <a:ext cx="36576" cy="365760"/>
          </a:xfrm>
          <a:prstGeom prst="rect">
            <a:avLst/>
          </a:prstGeom>
          <a:solidFill>
            <a:srgbClr val="8B1E2E"/>
          </a:solidFill>
          <a:ln w="12700">
            <a:solidFill>
              <a:srgbClr val="8B1E2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2" name="Text 9"/>
          <p:cNvSpPr/>
          <p:nvPr/>
        </p:nvSpPr>
        <p:spPr>
          <a:xfrm>
            <a:off x="7772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layer where separation was strongest — is where prediction falls shortest.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distinctiveness and memorability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8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 apart.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5394960" cy="2926080"/>
          </a:xfrm>
          <a:prstGeom prst="rect">
            <a:avLst/>
          </a:prstGeom>
          <a:solidFill>
            <a:srgbClr val="F7F5F3"/>
          </a:solidFill>
          <a:ln w="9525">
            <a:solidFill>
              <a:srgbClr val="E5E1DC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fc7 features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the network: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42062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image is about death."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accuracy: 0.92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3017520"/>
            <a:ext cx="5394960" cy="2926080"/>
          </a:xfrm>
          <a:prstGeom prst="rect">
            <a:avLst/>
          </a:prstGeom>
          <a:solidFill>
            <a:srgbClr val="FBF1F0"/>
          </a:solidFill>
          <a:ln w="12700">
            <a:solidFill>
              <a:srgbClr val="C6918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Text 8"/>
          <p:cNvSpPr/>
          <p:nvPr/>
        </p:nvSpPr>
        <p:spPr>
          <a:xfrm>
            <a:off x="653796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fc7 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3611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8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cannot fully tell us: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42062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of these images will be remembered."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i="1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Memorability prediction: r = 0.62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the category is not the same as predicting which members are sticky.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 ·  THE PUNCHLINE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no death signature.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death subcategories reach peak separability at different depths.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5669280"/>
            <a:ext cx="1033272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Shape 4"/>
          <p:cNvSpPr/>
          <p:nvPr/>
        </p:nvSpPr>
        <p:spPr>
          <a:xfrm>
            <a:off x="914400" y="5669280"/>
            <a:ext cx="0" cy="9144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" name="Text 5"/>
          <p:cNvSpPr/>
          <p:nvPr/>
        </p:nvSpPr>
        <p:spPr>
          <a:xfrm>
            <a:off x="548640" y="5806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36520" y="5669280"/>
            <a:ext cx="0" cy="9144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Text 7"/>
          <p:cNvSpPr/>
          <p:nvPr/>
        </p:nvSpPr>
        <p:spPr>
          <a:xfrm>
            <a:off x="2270760" y="5806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8640" y="5669280"/>
            <a:ext cx="0" cy="9144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" name="Text 9"/>
          <p:cNvSpPr/>
          <p:nvPr/>
        </p:nvSpPr>
        <p:spPr>
          <a:xfrm>
            <a:off x="3992880" y="5806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5669280"/>
            <a:ext cx="0" cy="9144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3" name="Text 11"/>
          <p:cNvSpPr/>
          <p:nvPr/>
        </p:nvSpPr>
        <p:spPr>
          <a:xfrm>
            <a:off x="5715000" y="5806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02880" y="5669280"/>
            <a:ext cx="0" cy="9144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5" name="Text 13"/>
          <p:cNvSpPr/>
          <p:nvPr/>
        </p:nvSpPr>
        <p:spPr>
          <a:xfrm>
            <a:off x="7437120" y="5806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25000" y="5669280"/>
            <a:ext cx="0" cy="9144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7" name="Text 15"/>
          <p:cNvSpPr/>
          <p:nvPr/>
        </p:nvSpPr>
        <p:spPr>
          <a:xfrm>
            <a:off x="9159240" y="5806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247120" y="5669280"/>
            <a:ext cx="0" cy="9144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9" name="Text 17"/>
          <p:cNvSpPr/>
          <p:nvPr/>
        </p:nvSpPr>
        <p:spPr>
          <a:xfrm>
            <a:off x="10881360" y="5806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6172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visual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0" y="6172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2212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Personified</a:t>
            </a:r>
            <a:endParaRPr lang="en-US" sz="1000" dirty="0"/>
          </a:p>
        </p:txBody>
      </p:sp>
      <p:pic>
        <p:nvPicPr>
          <p:cNvPr id="23" name="Image 0" descr="/home/claude/deck_assets/sub_symbol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662" y="2286000"/>
            <a:ext cx="921715" cy="109728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2636520" y="3429000"/>
            <a:ext cx="0" cy="2240280"/>
          </a:xfrm>
          <a:prstGeom prst="line">
            <a:avLst/>
          </a:prstGeom>
          <a:noFill/>
          <a:ln w="12700">
            <a:solidFill>
              <a:srgbClr val="C6918E"/>
            </a:solidFill>
            <a:prstDash val="dash"/>
          </a:ln>
        </p:spPr>
        <p:txBody>
          <a:bodyPr/>
          <a:lstStyle/>
          <a:p>
            <a:endParaRPr lang="en-001"/>
          </a:p>
        </p:txBody>
      </p:sp>
      <p:sp>
        <p:nvSpPr>
          <p:cNvPr id="25" name="Text 22"/>
          <p:cNvSpPr/>
          <p:nvPr/>
        </p:nvSpPr>
        <p:spPr>
          <a:xfrm>
            <a:off x="516636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Mythological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1000" dirty="0"/>
          </a:p>
        </p:txBody>
      </p:sp>
      <p:pic>
        <p:nvPicPr>
          <p:cNvPr id="26" name="Image 1" descr="/home/claude/deck_assets/sub_mythhi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2286000"/>
            <a:ext cx="768096" cy="109728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080760" y="3429000"/>
            <a:ext cx="0" cy="2240280"/>
          </a:xfrm>
          <a:prstGeom prst="line">
            <a:avLst/>
          </a:prstGeom>
          <a:noFill/>
          <a:ln w="12700">
            <a:solidFill>
              <a:srgbClr val="C6918E"/>
            </a:solidFill>
            <a:prstDash val="dash"/>
          </a:ln>
        </p:spPr>
        <p:txBody>
          <a:bodyPr/>
          <a:lstStyle/>
          <a:p>
            <a:endParaRPr lang="en-001"/>
          </a:p>
        </p:txBody>
      </p:sp>
      <p:sp>
        <p:nvSpPr>
          <p:cNvPr id="28" name="Text 24"/>
          <p:cNvSpPr/>
          <p:nvPr/>
        </p:nvSpPr>
        <p:spPr>
          <a:xfrm>
            <a:off x="688848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Funeral / Memorial</a:t>
            </a:r>
            <a:endParaRPr lang="en-US" sz="1000" dirty="0"/>
          </a:p>
        </p:txBody>
      </p:sp>
      <p:pic>
        <p:nvPicPr>
          <p:cNvPr id="29" name="Image 2" descr="/home/claude/deck_assets/sub_funera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2995" y="2286000"/>
            <a:ext cx="899770" cy="109728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7802880" y="3429000"/>
            <a:ext cx="0" cy="2240280"/>
          </a:xfrm>
          <a:prstGeom prst="line">
            <a:avLst/>
          </a:prstGeom>
          <a:noFill/>
          <a:ln w="12700">
            <a:solidFill>
              <a:srgbClr val="C6918E"/>
            </a:solidFill>
            <a:prstDash val="dash"/>
          </a:ln>
        </p:spPr>
        <p:txBody>
          <a:bodyPr/>
          <a:lstStyle/>
          <a:p>
            <a:endParaRPr lang="en-001"/>
          </a:p>
        </p:txBody>
      </p:sp>
      <p:sp>
        <p:nvSpPr>
          <p:cNvPr id="31" name="Text 26"/>
          <p:cNvSpPr/>
          <p:nvPr/>
        </p:nvSpPr>
        <p:spPr>
          <a:xfrm>
            <a:off x="688848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/ Violence</a:t>
            </a:r>
            <a:endParaRPr lang="en-US" sz="1000" dirty="0"/>
          </a:p>
        </p:txBody>
      </p:sp>
      <p:pic>
        <p:nvPicPr>
          <p:cNvPr id="32" name="Image 3" descr="/home/claude/deck_assets/sub_wa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158" y="3886200"/>
            <a:ext cx="1031443" cy="109728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7802880" y="5029200"/>
            <a:ext cx="0" cy="640080"/>
          </a:xfrm>
          <a:prstGeom prst="line">
            <a:avLst/>
          </a:prstGeom>
          <a:noFill/>
          <a:ln w="12700">
            <a:solidFill>
              <a:srgbClr val="C6918E"/>
            </a:solidFill>
            <a:prstDash val="dash"/>
          </a:ln>
        </p:spPr>
        <p:txBody>
          <a:bodyPr/>
          <a:lstStyle/>
          <a:p>
            <a:endParaRPr lang="en-001"/>
          </a:p>
        </p:txBody>
      </p:sp>
      <p:sp>
        <p:nvSpPr>
          <p:cNvPr id="34" name="Text 28"/>
          <p:cNvSpPr/>
          <p:nvPr/>
        </p:nvSpPr>
        <p:spPr>
          <a:xfrm>
            <a:off x="861060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</a:t>
            </a:r>
            <a:endParaRPr lang="en-US" sz="1000" dirty="0"/>
          </a:p>
        </p:txBody>
      </p:sp>
      <p:pic>
        <p:nvPicPr>
          <p:cNvPr id="35" name="Image 4" descr="/home/claude/deck_assets/sub_religiou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1574" y="2286000"/>
            <a:ext cx="866851" cy="1097280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9525000" y="3429000"/>
            <a:ext cx="0" cy="2240280"/>
          </a:xfrm>
          <a:prstGeom prst="line">
            <a:avLst/>
          </a:prstGeom>
          <a:noFill/>
          <a:ln w="12700">
            <a:solidFill>
              <a:srgbClr val="C6918E"/>
            </a:solidFill>
            <a:prstDash val="dash"/>
          </a:ln>
        </p:spPr>
        <p:txBody>
          <a:bodyPr/>
          <a:lstStyle/>
          <a:p>
            <a:endParaRPr lang="en-001"/>
          </a:p>
        </p:txBody>
      </p:sp>
      <p:sp>
        <p:nvSpPr>
          <p:cNvPr id="37" name="Text 30"/>
          <p:cNvSpPr/>
          <p:nvPr/>
        </p:nvSpPr>
        <p:spPr>
          <a:xfrm>
            <a:off x="861060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[Person/Thing]</a:t>
            </a:r>
            <a:endParaRPr lang="en-US" sz="1000" dirty="0"/>
          </a:p>
        </p:txBody>
      </p:sp>
      <p:pic>
        <p:nvPicPr>
          <p:cNvPr id="38" name="Image 5" descr="/home/claude/deck_assets/sub_deathof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4336" y="3886200"/>
            <a:ext cx="1481328" cy="1097280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9525000" y="5029200"/>
            <a:ext cx="0" cy="640080"/>
          </a:xfrm>
          <a:prstGeom prst="line">
            <a:avLst/>
          </a:prstGeom>
          <a:noFill/>
          <a:ln w="12700">
            <a:solidFill>
              <a:srgbClr val="C6918E"/>
            </a:solidFill>
            <a:prstDash val="dash"/>
          </a:ln>
        </p:spPr>
        <p:txBody>
          <a:bodyPr/>
          <a:lstStyle/>
          <a:p>
            <a:endParaRPr lang="en-001"/>
          </a:p>
        </p:txBody>
      </p:sp>
      <p:sp>
        <p:nvSpPr>
          <p:cNvPr id="40" name="Text 32"/>
          <p:cNvSpPr/>
          <p:nvPr/>
        </p:nvSpPr>
        <p:spPr>
          <a:xfrm>
            <a:off x="1033272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Hanno Series</a:t>
            </a:r>
            <a:endParaRPr lang="en-US" sz="1000" dirty="0"/>
          </a:p>
        </p:txBody>
      </p:sp>
      <p:pic>
        <p:nvPicPr>
          <p:cNvPr id="41" name="Image 6" descr="/home/claude/deck_assets/sub_hanno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19181" y="2286000"/>
            <a:ext cx="855878" cy="1097280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11247120" y="3429000"/>
            <a:ext cx="0" cy="2240280"/>
          </a:xfrm>
          <a:prstGeom prst="line">
            <a:avLst/>
          </a:prstGeom>
          <a:noFill/>
          <a:ln w="12700">
            <a:solidFill>
              <a:srgbClr val="C6918E"/>
            </a:solidFill>
            <a:prstDash val="dash"/>
          </a:ln>
        </p:spPr>
        <p:txBody>
          <a:bodyPr/>
          <a:lstStyle/>
          <a:p>
            <a:endParaRPr lang="en-001"/>
          </a:p>
        </p:txBody>
      </p:sp>
      <p:sp>
        <p:nvSpPr>
          <p:cNvPr id="43" name="Shape 34"/>
          <p:cNvSpPr/>
          <p:nvPr/>
        </p:nvSpPr>
        <p:spPr>
          <a:xfrm>
            <a:off x="640080" y="6446520"/>
            <a:ext cx="36576" cy="274320"/>
          </a:xfrm>
          <a:prstGeom prst="rect">
            <a:avLst/>
          </a:prstGeom>
          <a:solidFill>
            <a:srgbClr val="8B1E2E"/>
          </a:solidFill>
          <a:ln w="12700">
            <a:solidFill>
              <a:srgbClr val="8B1E2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44" name="Text 35"/>
          <p:cNvSpPr/>
          <p:nvPr/>
        </p:nvSpPr>
        <p:spPr>
          <a:xfrm>
            <a:off x="7772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Skeletons are detectable at early vision. Baskin's Hanno portraits need semantic processing. They are not one thing.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went looking for a death representation.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i="1" dirty="0">
                <a:solidFill>
                  <a:srgbClr val="8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found a family tree.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36576" cy="1920240"/>
          </a:xfrm>
          <a:prstGeom prst="rect">
            <a:avLst/>
          </a:prstGeom>
          <a:solidFill>
            <a:srgbClr val="8B1E2E"/>
          </a:solidFill>
          <a:ln w="12700">
            <a:solidFill>
              <a:srgbClr val="8B1E2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one class. Several.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subcategories live in different parts of the visual hierarchy. No shared fc7 prototype exists.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3840480"/>
            <a:ext cx="36576" cy="1920240"/>
          </a:xfrm>
          <a:prstGeom prst="rect">
            <a:avLst/>
          </a:prstGeom>
          <a:solidFill>
            <a:srgbClr val="8B1E2E"/>
          </a:solidFill>
          <a:ln w="12700">
            <a:solidFill>
              <a:srgbClr val="8B1E2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Text 7"/>
          <p:cNvSpPr/>
          <p:nvPr/>
        </p:nvSpPr>
        <p:spPr>
          <a:xfrm>
            <a:off x="4480560" y="3840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Separability ≠ memorability.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80560" y="452628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 that best tells death from non-death is not always the layer that best predicts memorability within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3840480"/>
            <a:ext cx="36576" cy="1920240"/>
          </a:xfrm>
          <a:prstGeom prst="rect">
            <a:avLst/>
          </a:prstGeom>
          <a:solidFill>
            <a:srgbClr val="8B1E2E"/>
          </a:solidFill>
          <a:ln w="12700">
            <a:solidFill>
              <a:srgbClr val="8B1E2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2" name="Text 10"/>
          <p:cNvSpPr/>
          <p:nvPr/>
        </p:nvSpPr>
        <p:spPr>
          <a:xfrm>
            <a:off x="8321040" y="3840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routes to being remembered.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21040" y="452628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death images are sticky via early shape (skeletons). Others via semantic content (dying faces, sacred scenes).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COMMON THREAD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holds the family together: arousal.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they diverge. Affectively they converge — and that is what lifts their memorability.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4630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2377440"/>
            <a:ext cx="1463040" cy="822960"/>
          </a:xfrm>
          <a:prstGeom prst="rect">
            <a:avLst/>
          </a:prstGeom>
          <a:solidFill>
            <a:srgbClr val="8B1E2E"/>
          </a:solidFill>
          <a:ln w="12700">
            <a:solidFill>
              <a:srgbClr val="8B1E2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Text 7"/>
          <p:cNvSpPr/>
          <p:nvPr/>
        </p:nvSpPr>
        <p:spPr>
          <a:xfrm>
            <a:off x="301752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Arousal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3291840"/>
            <a:ext cx="14630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2" name="Text 10"/>
          <p:cNvSpPr/>
          <p:nvPr/>
        </p:nvSpPr>
        <p:spPr>
          <a:xfrm>
            <a:off x="5303520" y="3337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ResMem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2194560" y="2971800"/>
            <a:ext cx="777240" cy="502920"/>
          </a:xfrm>
          <a:prstGeom prst="line">
            <a:avLst/>
          </a:prstGeom>
          <a:noFill/>
          <a:ln w="25400">
            <a:solidFill>
              <a:srgbClr val="8B1E2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5" name="Shape 13"/>
          <p:cNvSpPr/>
          <p:nvPr/>
        </p:nvSpPr>
        <p:spPr>
          <a:xfrm>
            <a:off x="4480560" y="2788920"/>
            <a:ext cx="822960" cy="685800"/>
          </a:xfrm>
          <a:prstGeom prst="line">
            <a:avLst/>
          </a:prstGeom>
          <a:noFill/>
          <a:ln w="25400">
            <a:solidFill>
              <a:srgbClr val="8B1E2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6" name="Shape 14"/>
          <p:cNvSpPr/>
          <p:nvPr/>
        </p:nvSpPr>
        <p:spPr>
          <a:xfrm>
            <a:off x="2194560" y="3703320"/>
            <a:ext cx="3108960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  <p:txBody>
          <a:bodyPr/>
          <a:lstStyle/>
          <a:p>
            <a:endParaRPr lang="en-001"/>
          </a:p>
        </p:txBody>
      </p:sp>
      <p:sp>
        <p:nvSpPr>
          <p:cNvPr id="17" name="Text 15"/>
          <p:cNvSpPr/>
          <p:nvPr/>
        </p:nvSpPr>
        <p:spPr>
          <a:xfrm>
            <a:off x="1691640" y="3063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0.25***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34840" y="3063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0.08***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3749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 = -0.01  (ns)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754880"/>
            <a:ext cx="6035040" cy="640080"/>
          </a:xfrm>
          <a:prstGeom prst="rect">
            <a:avLst/>
          </a:prstGeom>
          <a:solidFill>
            <a:srgbClr val="FBF1F0"/>
          </a:solidFill>
          <a:ln w="12700">
            <a:solidFill>
              <a:srgbClr val="C6918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1" name="Text 19"/>
          <p:cNvSpPr/>
          <p:nvPr/>
        </p:nvSpPr>
        <p:spPr>
          <a:xfrm>
            <a:off x="731520" y="48006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effect  a × b = 0.021     95% CI [0.013, 0.028]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278892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→ higher arousal.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arousal → higher memorability.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for arousal, and the direct effect of "death" drops to zero.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Arousal is what the family has in common — not a shared visual template.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CHANGES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Memorability is not a single signal with noise on top.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8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several signals, arriving at different depths, bound by affect.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3566160" cy="2377440"/>
          </a:xfrm>
          <a:prstGeom prst="rect">
            <a:avLst/>
          </a:prstGeom>
          <a:solidFill>
            <a:srgbClr val="F7F5F3"/>
          </a:solidFill>
          <a:ln w="9525">
            <a:solidFill>
              <a:srgbClr val="E5E1DC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3566160" cy="73152"/>
          </a:xfrm>
          <a:prstGeom prst="rect">
            <a:avLst/>
          </a:prstGeom>
          <a:solidFill>
            <a:srgbClr val="8B1E2E"/>
          </a:solidFill>
          <a:ln w="12700">
            <a:solidFill>
              <a:srgbClr val="8B1E2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vision models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40690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prediction gap on affective content is systematic, not noise. The fix is not one "meaning module" — it is encoding multiple semantic routes.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3291840"/>
            <a:ext cx="3566160" cy="2377440"/>
          </a:xfrm>
          <a:prstGeom prst="rect">
            <a:avLst/>
          </a:prstGeom>
          <a:solidFill>
            <a:srgbClr val="F7F5F3"/>
          </a:solidFill>
          <a:ln w="9525">
            <a:solidFill>
              <a:srgbClr val="E5E1DC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Shape 8"/>
          <p:cNvSpPr/>
          <p:nvPr/>
        </p:nvSpPr>
        <p:spPr>
          <a:xfrm>
            <a:off x="4297680" y="3291840"/>
            <a:ext cx="3566160" cy="73152"/>
          </a:xfrm>
          <a:prstGeom prst="rect">
            <a:avLst/>
          </a:prstGeom>
          <a:solidFill>
            <a:srgbClr val="8B1E2E"/>
          </a:solidFill>
          <a:ln w="12700">
            <a:solidFill>
              <a:srgbClr val="8B1E2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1" name="Text 9"/>
          <p:cNvSpPr/>
          <p:nvPr/>
        </p:nvSpPr>
        <p:spPr>
          <a:xfrm>
            <a:off x="452628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emotional memory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40690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arousal–memory link is visible in stimulus-intrinsic model predictions, without any behavioural test. Two traditions, one measurement.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3291840"/>
            <a:ext cx="3566160" cy="2377440"/>
          </a:xfrm>
          <a:prstGeom prst="rect">
            <a:avLst/>
          </a:prstGeom>
          <a:solidFill>
            <a:srgbClr val="F7F5F3"/>
          </a:solidFill>
          <a:ln w="9525">
            <a:solidFill>
              <a:srgbClr val="E5E1DC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4" name="Shape 12"/>
          <p:cNvSpPr/>
          <p:nvPr/>
        </p:nvSpPr>
        <p:spPr>
          <a:xfrm>
            <a:off x="8138160" y="3291840"/>
            <a:ext cx="3566160" cy="73152"/>
          </a:xfrm>
          <a:prstGeom prst="rect">
            <a:avLst/>
          </a:prstGeom>
          <a:solidFill>
            <a:srgbClr val="8B1E2E"/>
          </a:solidFill>
          <a:ln w="12700">
            <a:solidFill>
              <a:srgbClr val="8B1E2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5" name="Text 13"/>
          <p:cNvSpPr/>
          <p:nvPr/>
        </p:nvSpPr>
        <p:spPr>
          <a:xfrm>
            <a:off x="836676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semantic category question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6760" y="40690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"Death imagery" behaves like a family, not a kind. Other affective categories — threat, eros, sacred — may look the same way.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cross-cultural behavioural study (China × Canada): continuous recognition, arousal ratings, mortality-salience measures.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_assets/monet_camil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4354007" cy="5852160"/>
          </a:xfrm>
          <a:prstGeom prst="rect">
            <a:avLst/>
          </a:prstGeom>
          <a:effectLst>
            <a:outerShdw blurRad="177800" dist="50800" dir="81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486400" y="10972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layer?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0" y="19202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 — the shape of a sleeping face?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0" y="23317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Conv5 — the domestic scene of a bedroom?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0" y="27432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fc7 — the iconography of a deathbed?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0" y="33832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none — and a new branch of the family.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0" y="4297680"/>
            <a:ext cx="54864" cy="1463040"/>
          </a:xfrm>
          <a:prstGeom prst="rect">
            <a:avLst/>
          </a:prstGeom>
          <a:solidFill>
            <a:srgbClr val="8B1E2E"/>
          </a:solidFill>
          <a:ln w="12700">
            <a:solidFill>
              <a:srgbClr val="8B1E2E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Text 6"/>
          <p:cNvSpPr/>
          <p:nvPr/>
        </p:nvSpPr>
        <p:spPr>
          <a:xfrm>
            <a:off x="5669280" y="42976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Death is not a visual kind.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669280" y="48006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 family tree —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669280" y="53035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8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 by arousal, not by pixels.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486400" y="61264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tonghe.zhuang@…  ·  Laureys Lab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Camille Monet on Her Deathbed, 1879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3424</TotalTime>
  <Words>1345</Words>
  <Application>Microsoft Macintosh PowerPoint</Application>
  <PresentationFormat>Widescreen</PresentationFormat>
  <Paragraphs>210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Death is a family — ASSC 2026</dc:title>
  <dc:subject>PptxGenJS Presentation</dc:subject>
  <dc:creator>Tonghe Zhuang</dc:creator>
  <cp:lastModifiedBy>Tonghe Zhuang</cp:lastModifiedBy>
  <cp:revision>2</cp:revision>
  <dcterms:created xsi:type="dcterms:W3CDTF">2026-04-24T12:23:04Z</dcterms:created>
  <dcterms:modified xsi:type="dcterms:W3CDTF">2026-06-24T23:24:59Z</dcterms:modified>
</cp:coreProperties>
</file>